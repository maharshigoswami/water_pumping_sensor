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135884"/>
            <a:ext cx="4572000" cy="2514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MAINTENANCE SYSTEM USING MACHINE LEARNING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857875" y="1135884"/>
            <a:ext cx="11001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NAME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857875" y="1330551"/>
            <a:ext cx="7051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Maharshi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857875" y="1527004"/>
            <a:ext cx="71451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Goswami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7043738" y="1135884"/>
            <a:ext cx="11001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043738" y="1330551"/>
            <a:ext cx="83841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MCA (Data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7043738" y="1527004"/>
            <a:ext cx="66704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Science)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5857875" y="1807397"/>
            <a:ext cx="1100138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</a:t>
            </a: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 </a:t>
            </a: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
</a:t>
            </a: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Alliance </a:t>
            </a: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University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7043738" y="1807397"/>
            <a:ext cx="1100138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</a:t>
            </a: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 7th April </a:t>
            </a:r>
            <a:r>
              <a:rPr lang="en-US" sz="1269" dirty="0">
                <a:solidFill>
                  <a:srgbClr val="E6F1FF"/>
                </a:solidFill>
                <a:latin typeface="Open+Sans" pitchFamily="34" charset="0"/>
                <a:ea typeface="Open+Sans" pitchFamily="34" charset="-122"/>
                <a:cs typeface="Open+Sans" pitchFamily="34" charset="-120"/>
              </a:rPr>
              <a:t>2026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3294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3398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1428750"/>
            <a:ext cx="439482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Predictive Maintenance?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828675" y="1778794"/>
            <a:ext cx="43948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data-driven technique that monitors equipment condition to predict failures before they occur, optimizing maintenance schedules.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3555"/>
            <a:ext cx="257175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7250" y="2678906"/>
            <a:ext cx="436625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Industrial Importance</a:t>
            </a:r>
            <a:endParaRPr lang="en-US" sz="1602" dirty="0"/>
          </a:p>
        </p:txBody>
      </p:sp>
      <p:sp>
        <p:nvSpPr>
          <p:cNvPr id="9" name="Text 4"/>
          <p:cNvSpPr/>
          <p:nvPr/>
        </p:nvSpPr>
        <p:spPr>
          <a:xfrm>
            <a:off x="857250" y="3028950"/>
            <a:ext cx="4366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unplanned downtime, lowers maintenance costs, and extends the lifespan of critical industrial assets like water pumps.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5111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675" y="3700463"/>
            <a:ext cx="439482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Role of AI</a:t>
            </a:r>
            <a:endParaRPr lang="en-US" sz="1602" dirty="0"/>
          </a:p>
        </p:txBody>
      </p:sp>
      <p:sp>
        <p:nvSpPr>
          <p:cNvPr id="12" name="Text 6"/>
          <p:cNvSpPr/>
          <p:nvPr/>
        </p:nvSpPr>
        <p:spPr>
          <a:xfrm>
            <a:off x="828675" y="4050506"/>
            <a:ext cx="43948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algorithms identify complex patterns in high-frequency sensor data that are invisible to human operators.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5509254" y="1428750"/>
            <a:ext cx="3177546" cy="3228975"/>
          </a:xfrm>
          <a:prstGeom prst="rect">
            <a:avLst/>
          </a:prstGeom>
          <a:solidFill>
            <a:srgbClr val="64FFDA">
              <a:alpha val="5000"/>
            </a:srgbClr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6383638" y="2321719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57200" y="1571625"/>
            <a:ext cx="36004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CHALLENGES</a:t>
            </a:r>
            <a:endParaRPr lang="en-US" sz="160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834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2064544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Sudden machine breakdowns lead to production halts and high emergency maintenance costs.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75347"/>
            <a:ext cx="250031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0106" y="2736056"/>
            <a:ext cx="3207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monitoring is inefficient, error-prone, and cannot process high-frequency sensor data in real-time.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072063" y="1571625"/>
            <a:ext cx="361473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OBJECTIVE</a:t>
            </a:r>
            <a:endParaRPr lang="en-US" sz="160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2103834"/>
            <a:ext cx="200025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14963" y="2064544"/>
            <a:ext cx="32718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binary classification model to accurately distinguish between 'Normal' and 'Failure' states.</a:t>
            </a:r>
            <a:endParaRPr lang="en-US" sz="10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3003947"/>
            <a:ext cx="200025" cy="2000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14963" y="2964656"/>
            <a:ext cx="32718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early warning signals to allow for proactive maintenance before actual breakdowns occur.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57200" y="1728788"/>
            <a:ext cx="39004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CHARACTERISTICS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57200" y="2150269"/>
            <a:ext cx="11179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Sensors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3504009" y="2150269"/>
            <a:ext cx="8536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64FFD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52 Features</a:t>
            </a:r>
            <a:endParaRPr lang="en-US" sz="1159" dirty="0"/>
          </a:p>
        </p:txBody>
      </p:sp>
      <p:sp>
        <p:nvSpPr>
          <p:cNvPr id="7" name="Text 4"/>
          <p:cNvSpPr/>
          <p:nvPr/>
        </p:nvSpPr>
        <p:spPr>
          <a:xfrm>
            <a:off x="457200" y="2550319"/>
            <a:ext cx="8501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Type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3511153" y="2550319"/>
            <a:ext cx="8465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64FFD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Time-Series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457200" y="2950369"/>
            <a:ext cx="12787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Variable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3216473" y="2950369"/>
            <a:ext cx="11412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64FFD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machine_status</a:t>
            </a:r>
            <a:endParaRPr lang="en-US" sz="1159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71888"/>
            <a:ext cx="125016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9372" y="3779044"/>
            <a:ext cx="36683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water pump sensor dataset capturing high-frequency industrial telemetry.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86313" y="1728788"/>
            <a:ext cx="39004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COMPONENTS</a:t>
            </a:r>
            <a:endParaRPr lang="en-US" sz="1602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2185988"/>
            <a:ext cx="142875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36344" y="2293144"/>
            <a:ext cx="36504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Inputs: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Readings from sensor_00 to sensor_51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monitoring physical parameters.</a:t>
            </a:r>
            <a:endParaRPr lang="en-US" sz="987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3043238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36344" y="3150394"/>
            <a:ext cx="36504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Temporal Data: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Each entry is timestamped, allowing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chronological pattern analysis.</a:t>
            </a:r>
            <a:endParaRPr lang="en-US" sz="987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900488"/>
            <a:ext cx="125016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18484" y="4007644"/>
            <a:ext cx="36683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Labels: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Categorized into 'Normal', 'Broken', and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'Recovering' states.</a:t>
            </a:r>
            <a:endParaRPr lang="en-US" sz="98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PREPROCESSING</a:t>
            </a:r>
            <a:endParaRPr lang="en-US" sz="3294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8402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1525" y="1428750"/>
            <a:ext cx="445197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 TREATMENT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771525" y="1673423"/>
            <a:ext cx="445197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median imputation for sensor readings to maintain data distribution while handling null values.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92" y="2245984"/>
            <a:ext cx="150019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878" y="2176332"/>
            <a:ext cx="444762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SELECTION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775878" y="2421006"/>
            <a:ext cx="444762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Dropped redundant columns (e.g., sensor_15) and aligned timestamps to datetime objects.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93566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1525" y="2923915"/>
            <a:ext cx="445197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 SCALING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771525" y="3168588"/>
            <a:ext cx="445197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Applied RobustScaler to handle outliers, ensuring the model isn't skewed by extreme sensor fluctuations.</a:t>
            </a:r>
            <a:endParaRPr lang="en-US" sz="94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41148"/>
            <a:ext cx="192881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2956" y="3671497"/>
            <a:ext cx="443054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CLASSIFICATION</a:t>
            </a:r>
            <a:endParaRPr lang="en-US" sz="1193" dirty="0"/>
          </a:p>
        </p:txBody>
      </p:sp>
      <p:sp>
        <p:nvSpPr>
          <p:cNvPr id="15" name="Text 8"/>
          <p:cNvSpPr/>
          <p:nvPr/>
        </p:nvSpPr>
        <p:spPr>
          <a:xfrm>
            <a:off x="792956" y="3916170"/>
            <a:ext cx="4279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Simplified the target variable to 'Normal' vs 'Failure' for more effective predictive</a:t>
            </a:r>
            <a:endParaRPr lang="en-US" sz="834" dirty="0"/>
          </a:p>
        </p:txBody>
      </p:sp>
      <p:sp>
        <p:nvSpPr>
          <p:cNvPr id="16" name="Text 9"/>
          <p:cNvSpPr/>
          <p:nvPr/>
        </p:nvSpPr>
        <p:spPr>
          <a:xfrm>
            <a:off x="792956" y="4071547"/>
            <a:ext cx="24949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modeling by merging 'Recovering' with 'Failure'</a:t>
            </a:r>
            <a:endParaRPr lang="en-US" sz="834" dirty="0"/>
          </a:p>
        </p:txBody>
      </p:sp>
      <p:sp>
        <p:nvSpPr>
          <p:cNvPr id="17" name="Shape 10"/>
          <p:cNvSpPr/>
          <p:nvPr/>
        </p:nvSpPr>
        <p:spPr>
          <a:xfrm>
            <a:off x="5509254" y="1428750"/>
            <a:ext cx="3177546" cy="3514725"/>
          </a:xfrm>
          <a:prstGeom prst="rect">
            <a:avLst/>
          </a:prstGeom>
          <a:solidFill>
            <a:srgbClr val="64FFDA">
              <a:alpha val="5000"/>
            </a:srgbClr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312201" y="1605915"/>
            <a:ext cx="1571625" cy="316111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9" name="Text 12"/>
          <p:cNvSpPr/>
          <p:nvPr/>
        </p:nvSpPr>
        <p:spPr>
          <a:xfrm>
            <a:off x="6312201" y="1605915"/>
            <a:ext cx="1571625" cy="316111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</a:t>
            </a:r>
            <a:endParaRPr lang="en-US" sz="987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983713" y="2109549"/>
            <a:ext cx="228600" cy="2286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312201" y="2520315"/>
            <a:ext cx="1571625" cy="31611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14"/>
          <p:cNvSpPr/>
          <p:nvPr/>
        </p:nvSpPr>
        <p:spPr>
          <a:xfrm>
            <a:off x="6312201" y="2520315"/>
            <a:ext cx="1571625" cy="316111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RECOVERING</a:t>
            </a:r>
            <a:endParaRPr lang="en-US" sz="987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8001" y="3023949"/>
            <a:ext cx="200025" cy="22860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312201" y="3434715"/>
            <a:ext cx="1571625" cy="316111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16"/>
          <p:cNvSpPr/>
          <p:nvPr/>
        </p:nvSpPr>
        <p:spPr>
          <a:xfrm>
            <a:off x="6312201" y="3434715"/>
            <a:ext cx="1571625" cy="316111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BROKEN</a:t>
            </a:r>
            <a:endParaRPr lang="en-US" sz="987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8001" y="3938349"/>
            <a:ext cx="200025" cy="2286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6312201" y="4349115"/>
            <a:ext cx="1571625" cy="316111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8" name="Text 18"/>
          <p:cNvSpPr/>
          <p:nvPr/>
        </p:nvSpPr>
        <p:spPr>
          <a:xfrm>
            <a:off x="6312201" y="4349115"/>
            <a:ext cx="1571625" cy="316111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FAILURE (1)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DATA ANALYSIS</a:t>
            </a:r>
            <a:endParaRPr lang="en-US" sz="3294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8402"/>
            <a:ext cx="192881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238" y="1428750"/>
            <a:ext cx="36004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Imbalance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757238" y="1728788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Failure events are rare anomalies compared to normal operation, requiring specific handling during modeling.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62795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8669" y="2293144"/>
            <a:ext cx="357901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Behavior</a:t>
            </a:r>
            <a:endParaRPr lang="en-US" sz="1397" dirty="0"/>
          </a:p>
        </p:txBody>
      </p:sp>
      <p:sp>
        <p:nvSpPr>
          <p:cNvPr id="9" name="Text 4"/>
          <p:cNvSpPr/>
          <p:nvPr/>
        </p:nvSpPr>
        <p:spPr>
          <a:xfrm>
            <a:off x="778669" y="2593181"/>
            <a:ext cx="35790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Visualized sensor readings over time to observe fluctuations and identify pre-failure signatures.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7189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5806" y="3157538"/>
            <a:ext cx="36218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Outlier Analysis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735806" y="3457575"/>
            <a:ext cx="36218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Distinguished between measurement noise and genuine anomalies that indicate machine degradation.</a:t>
            </a:r>
            <a:endParaRPr lang="en-US" sz="942" dirty="0"/>
          </a:p>
        </p:txBody>
      </p:sp>
      <p:sp>
        <p:nvSpPr>
          <p:cNvPr id="13" name="Text 7"/>
          <p:cNvSpPr/>
          <p:nvPr/>
        </p:nvSpPr>
        <p:spPr>
          <a:xfrm>
            <a:off x="4786313" y="1428750"/>
            <a:ext cx="39004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STATUS DISTRIBUTION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786313" y="1744861"/>
            <a:ext cx="3900488" cy="315753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887736"/>
            <a:ext cx="36004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3294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5197"/>
            <a:ext cx="25003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106" y="1500188"/>
            <a:ext cx="354330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Signals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850106" y="1800225"/>
            <a:ext cx="35433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Sudden, sharp drops or spikes in specific sensor values are strong indicators of imminent failure.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9591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0100" y="2364581"/>
            <a:ext cx="359330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 vs. Irregular</a:t>
            </a:r>
            <a:endParaRPr lang="en-US" sz="1397" dirty="0"/>
          </a:p>
        </p:txBody>
      </p:sp>
      <p:sp>
        <p:nvSpPr>
          <p:cNvPr id="9" name="Text 4"/>
          <p:cNvSpPr/>
          <p:nvPr/>
        </p:nvSpPr>
        <p:spPr>
          <a:xfrm>
            <a:off x="800100" y="2664619"/>
            <a:ext cx="35933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 operation shows rhythmic patterns, while failure states are characterized by high volatility.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53" y="3303984"/>
            <a:ext cx="150019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3628" y="3228975"/>
            <a:ext cx="362977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Time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763628" y="3529013"/>
            <a:ext cx="362977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Failures can often be predicted several hours in advance, providing ample time for proactive maintenance.</a:t>
            </a:r>
            <a:endParaRPr lang="en-US" sz="94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31588"/>
            <a:ext cx="4093425" cy="28499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BUILDING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57200" y="1571625"/>
            <a:ext cx="39004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ALGORITHMS SELECTED</a:t>
            </a:r>
            <a:endParaRPr lang="en-US" sz="160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1535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1525" y="2135981"/>
            <a:ext cx="35861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Established as a baseline to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linear relationships.</a:t>
            </a:r>
            <a:endParaRPr lang="en-US" sz="98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0204"/>
            <a:ext cx="150019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0094" y="2914650"/>
            <a:ext cx="3607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Ensemble method used to handle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non-linear patterns and interactions.</a:t>
            </a:r>
            <a:endParaRPr lang="en-US" sz="987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51" y="3838873"/>
            <a:ext cx="128588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5992" y="3693319"/>
            <a:ext cx="3611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XGBoost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Gradient boosting for high-performance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 and robustness.</a:t>
            </a:r>
            <a:endParaRPr lang="en-US" sz="987" dirty="0"/>
          </a:p>
        </p:txBody>
      </p:sp>
      <p:sp>
        <p:nvSpPr>
          <p:cNvPr id="11" name="Shape 5"/>
          <p:cNvSpPr/>
          <p:nvPr/>
        </p:nvSpPr>
        <p:spPr>
          <a:xfrm>
            <a:off x="4786313" y="1571625"/>
            <a:ext cx="3900488" cy="22002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2" name="Shape 6"/>
          <p:cNvSpPr/>
          <p:nvPr/>
        </p:nvSpPr>
        <p:spPr>
          <a:xfrm>
            <a:off x="4786313" y="1571625"/>
            <a:ext cx="3900488" cy="1428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3" name="Text 7"/>
          <p:cNvSpPr/>
          <p:nvPr/>
        </p:nvSpPr>
        <p:spPr>
          <a:xfrm>
            <a:off x="4786313" y="1714500"/>
            <a:ext cx="39004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STRATEGY</a:t>
            </a:r>
            <a:endParaRPr lang="en-US" sz="160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2210098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00638" y="2064544"/>
            <a:ext cx="35861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Chronological Split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Train-test split based on time to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 real-world deployment.</a:t>
            </a:r>
            <a:endParaRPr lang="en-US" sz="987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774454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00638" y="2628900"/>
            <a:ext cx="35861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RobustScaler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Applied to handle outliers effectively in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 sensor data.</a:t>
            </a:r>
            <a:endParaRPr lang="en-US" sz="987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338810"/>
            <a:ext cx="171450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00638" y="3193256"/>
            <a:ext cx="35861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Noise Handling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Focused on models less sensitive to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 environment noise.</a:t>
            </a:r>
            <a:endParaRPr lang="en-US" sz="98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METRICS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628650" y="1607344"/>
            <a:ext cx="37290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28650" y="1921669"/>
            <a:ext cx="37290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 the accuracy of failure predictions, ensuring that maintenance alerts are genuine and not false alarms.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628650" y="2557463"/>
            <a:ext cx="37290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 (SENSITIVITY)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628650" y="2871788"/>
            <a:ext cx="37290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most critical metric; measures the model's ability to capture all actual failure events.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28650" y="3507581"/>
            <a:ext cx="37290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F1-SCORE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28650" y="3821906"/>
            <a:ext cx="37290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harmonic mean of Precision and Recall, providing a balanced measure for imbalanced datasets.</a:t>
            </a:r>
            <a:endParaRPr lang="en-US" sz="94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680" y="1434852"/>
            <a:ext cx="3363115" cy="32565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&amp; COMPARISON</a:t>
            </a:r>
            <a:endParaRPr lang="en-US" sz="3294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8402"/>
            <a:ext cx="192881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238" y="1428750"/>
            <a:ext cx="36004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Performers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757238" y="1728788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 and XGBoost significantly outperformed Logistic Regression in capturing complex sensor patterns.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62795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5806" y="2293144"/>
            <a:ext cx="36218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Recall Achieved</a:t>
            </a:r>
            <a:endParaRPr lang="en-US" sz="1397" dirty="0"/>
          </a:p>
        </p:txBody>
      </p:sp>
      <p:sp>
        <p:nvSpPr>
          <p:cNvPr id="9" name="Text 4"/>
          <p:cNvSpPr/>
          <p:nvPr/>
        </p:nvSpPr>
        <p:spPr>
          <a:xfrm>
            <a:off x="735806" y="2593181"/>
            <a:ext cx="36218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models successfully identified over 95% of failure events, minimizing the risk of undetected breakdowns.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7189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5806" y="3157538"/>
            <a:ext cx="36218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Detection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735806" y="3457575"/>
            <a:ext cx="36218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Confusion matrices confirm the system's robustness in distinguishing abnormal conditions from noise.</a:t>
            </a:r>
            <a:endParaRPr lang="en-US" sz="942" dirty="0"/>
          </a:p>
        </p:txBody>
      </p:sp>
      <p:sp>
        <p:nvSpPr>
          <p:cNvPr id="13" name="Text 7"/>
          <p:cNvSpPr/>
          <p:nvPr/>
        </p:nvSpPr>
        <p:spPr>
          <a:xfrm>
            <a:off x="4786313" y="1428750"/>
            <a:ext cx="39004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PERFORMANCE COMPARISON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786313" y="1744861"/>
            <a:ext cx="3900488" cy="315753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887736"/>
            <a:ext cx="36004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&amp; FUTURE SCOPE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57200" y="1571625"/>
            <a:ext cx="39004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SUMMARY</a:t>
            </a:r>
            <a:endParaRPr lang="en-US" sz="160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5272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2135981"/>
            <a:ext cx="35575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demonstrated that Machine Learning can effectively predict water pump failures using high-frequency sensor data.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457200" y="3178969"/>
            <a:ext cx="3900488" cy="842963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3178969"/>
            <a:ext cx="3900488" cy="14288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61134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0100" y="3321844"/>
            <a:ext cx="35575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 Impact: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Transforms maintenance from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reactive to proactive, significantly reducing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operational costs and improving safety.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4786313" y="1571625"/>
            <a:ext cx="39004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IMPROVEMENTS</a:t>
            </a:r>
            <a:endParaRPr lang="en-US" sz="160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2175272"/>
            <a:ext cx="225028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54216" y="2135981"/>
            <a:ext cx="3532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Integration: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Deploying the model into a live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monitoring dashboard for instant alerts and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visualization.</a:t>
            </a:r>
            <a:endParaRPr lang="en-US" sz="987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075384"/>
            <a:ext cx="200025" cy="2000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29213" y="3036094"/>
            <a:ext cx="35575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Modeling: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Exploring Deep Learning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(LSTMs) to better capture long-term temporal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dependencies in sensor sequences.</a:t>
            </a:r>
            <a:endParaRPr lang="en-US" sz="987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3975497"/>
            <a:ext cx="175022" cy="2000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04209" y="3936206"/>
            <a:ext cx="3582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Scalability: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Expanding the framework to monitor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entire fleets of industrial equipment across different </a:t>
            </a:r>
            <a:r>
              <a:rPr lang="en-US" sz="1050" dirty="0">
                <a:solidFill>
                  <a:srgbClr val="E6F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sectors.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2026-04-08T16:14:37Z</dcterms:created>
  <dcterms:modified xsi:type="dcterms:W3CDTF">2026-04-08T16:14:37Z</dcterms:modified>
</cp:coreProperties>
</file>